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561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548640"/>
            <a:ext cx="2377440" cy="23774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UPDATE — M26-026P-PR1-c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Intelligent, Plug-and-Play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Atmospheric Water Harvesting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Architecture &amp; Calculation Methodology for Cooling Tower Integration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937760"/>
            <a:ext cx="6035040" cy="18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516636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Mounusha Ram Metti  ·  mmetti@asu.edu
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Sustainable Engineering and the Built Environment (SSEBE)
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40" dirty="0"/>
          </a:p>
        </p:txBody>
      </p:sp>
      <p:sp>
        <p:nvSpPr>
          <p:cNvPr id="4" name="Text 2"/>
          <p:cNvSpPr/>
          <p:nvPr/>
        </p:nvSpPr>
        <p:spPr>
          <a:xfrm>
            <a:off x="1143000" y="347472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1 OF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5669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Autonomous, Threshold-Triggered Pump Control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537960" cy="5074920"/>
          </a:xfrm>
          <a:prstGeom prst="roundRect">
            <a:avLst>
              <a:gd name="adj" fmla="val 1441"/>
            </a:avLst>
          </a:prstGeom>
          <a:solidFill>
            <a:srgbClr val="1E2761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pump_controller.py — simplified excerpt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6080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PumpController: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auto_check(self, weight_g):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i="1" dirty="0">
                <a:solidFill>
                  <a:srgbClr val="8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runs on every new balance reading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 = float(weight_g)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w &gt; self.threshold_g and not self.is_on: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self.start_timed(self.duration_min)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start_timed(self, duration_min):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self._turn_on()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self._timer_thread and self._timer_thread.is_alive():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self._stop_event.set()   # cancel prior cycle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self._stop_event = threading.Event()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 = threading.Thread(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target=self._timed_worker,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args=(duration_min, self._stop_event),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self._timer_thread = t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t.start()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_timed_worker(self, duration_min, stop):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waited, step = 0.0, 0.25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limit = duration_min * 60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waited &lt; limit and not stop.is_set():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time.sleep(step)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waited += step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stop.is_set():</a:t>
            </a:r>
            <a:endParaRPr lang="en-US" sz="101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self._turn_off()</a:t>
            </a:r>
            <a:endParaRPr lang="en-US" sz="1010" dirty="0"/>
          </a:p>
        </p:txBody>
      </p:sp>
      <p:sp>
        <p:nvSpPr>
          <p:cNvPr id="9" name="Text 7"/>
          <p:cNvSpPr/>
          <p:nvPr/>
        </p:nvSpPr>
        <p:spPr>
          <a:xfrm>
            <a:off x="7269480" y="12344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“intelligent”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69480" y="18288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25512" y="1709928"/>
            <a:ext cx="422452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trigger
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auto_check() runs on every new balance reading; once a weight threshold is set, no operator input decides when to harvest — the controller decides.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69480" y="285292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25512" y="2734056"/>
            <a:ext cx="422452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Self-terminating cycle
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start_timed() launches a background watchdog thread that turns the pump off after duration_min elapses, with no external polling required.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69480" y="387705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25512" y="3758184"/>
            <a:ext cx="422452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Race-safe restart
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 arriving mid-cycle cleanly cancels the prior timer (_stop_event) before starting a new one — prevents overlapping or duplicate activations.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69480" y="490118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25512" y="4782312"/>
            <a:ext cx="422452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Hardware-agnostic bring-up
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init, the controller force-frees its GPIO pin via lgpio and runs unmodified on Raspberry Pi 4 or 5 — the same code deploys to a new station with zero configuration changes.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AzAWH — SSEBE, Arizona State University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540" dirty="0"/>
          </a:p>
        </p:txBody>
      </p:sp>
      <p:sp>
        <p:nvSpPr>
          <p:cNvPr id="4" name="Text 2"/>
          <p:cNvSpPr/>
          <p:nvPr/>
        </p:nvSpPr>
        <p:spPr>
          <a:xfrm>
            <a:off x="1143000" y="347472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2 OF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5669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Auto-Detection — Hardware-Agnostic by Design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537960" cy="5074920"/>
          </a:xfrm>
          <a:prstGeom prst="roundRect">
            <a:avLst>
              <a:gd name="adj" fmla="val 1441"/>
            </a:avLst>
          </a:prstGeom>
          <a:solidFill>
            <a:srgbClr val="1E2761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read_balance.py — simplified excerpt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6080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BY_ID_DIR = "/dev/serial/by-id"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MATCH_SUBSTRINGS = ("usb-Prolific_Technology_Inc.",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"USB-Serial_Controller")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_find_balance_port(self):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i="1" dirty="0">
                <a:solidFill>
                  <a:srgbClr val="8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stable by-id symlink; no hardcoded ttyUSB#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os.path.isdir(self.BY_ID_DIR):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None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candidates = []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name in sorted(os.listdir(self.BY_ID_DIR)):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full = os.path.join(self.BY_ID_DIR, name)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os.path.islink(full) and all(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 in name for s in self.MATCH_SUBSTRINGS):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candidates.append(full)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candidates: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None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dtech = [c for c in candidates if "Dtech" in c]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(sorted(dtech) or candidates)[0]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_resolve_port(self):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i="1" dirty="0">
                <a:solidFill>
                  <a:srgbClr val="8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explicit user port always wins over auto-detect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self.port: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self.port if os.path.exists(self.port) else None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= self._find_balance_port()</a:t>
            </a:r>
            <a:endParaRPr lang="en-US" sz="1161" dirty="0"/>
          </a:p>
          <a:p>
            <a:pPr marL="0" indent="0">
              <a:lnSpc>
                <a:spcPts val="1411"/>
              </a:lnSpc>
              <a:buNone/>
            </a:pPr>
            <a:r>
              <a:rPr lang="en-US" sz="116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auto if auto and os.path.exists(auto) else None</a:t>
            </a:r>
            <a:endParaRPr lang="en-US" sz="1161" dirty="0"/>
          </a:p>
        </p:txBody>
      </p:sp>
      <p:sp>
        <p:nvSpPr>
          <p:cNvPr id="9" name="Text 7"/>
          <p:cNvSpPr/>
          <p:nvPr/>
        </p:nvSpPr>
        <p:spPr>
          <a:xfrm>
            <a:off x="7269480" y="12344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“plug-and-play”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69480" y="18288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25512" y="1709928"/>
            <a:ext cx="422452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port numbers
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reassigns /dev/ttyUSB# unpredictably on every reboot or replug; the reader resolves a stable /dev/serial/by-id symlink instead, so wiring order never matters.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69480" y="285292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25512" y="2734056"/>
            <a:ext cx="422452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Adapter-model tolerant
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is done on USB descriptor substrings, not an exact device string — different adapter batches or models are recognized automatically.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69480" y="387705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25512" y="3758184"/>
            <a:ext cx="422452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when ambiguous
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more than one matching adapter is present, a documented tie-break rule picks one consistently rather than failing or choosing at random.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69480" y="490118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25512" y="4782312"/>
            <a:ext cx="422452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per sensor
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(by-id for balance/power meter, by-path for anemometers) is applied independently to every sensor — each self-configures the moment it's plugged in.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AzAWH — SSEBE, Arizona State University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</a:t>
            </a:r>
            <a:endParaRPr lang="en-US" sz="1540" dirty="0"/>
          </a:p>
        </p:txBody>
      </p:sp>
      <p:sp>
        <p:nvSpPr>
          <p:cNvPr id="4" name="Text 2"/>
          <p:cNvSpPr/>
          <p:nvPr/>
        </p:nvSpPr>
        <p:spPr>
          <a:xfrm>
            <a:off x="1143000" y="347472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5669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Harvesting-Efficiency Physics — Moisture to Capture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537960" cy="5074920"/>
          </a:xfrm>
          <a:prstGeom prst="roundRect">
            <a:avLst>
              <a:gd name="adj" fmla="val 1441"/>
            </a:avLst>
          </a:prstGeom>
          <a:solidFill>
            <a:srgbClr val="E9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344168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1500" baseline="-40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(T) = 6.112 · exp( 17.67·T / (T + 243.5) 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673352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vapor pressure — Magnus formula, T in °C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125980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 = 216.7 · (RH/100) · e</a:t>
            </a:r>
            <a:r>
              <a:rPr lang="en-US" sz="1500" baseline="-40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(T) / (273.15+T)  [g/m</a:t>
            </a:r>
            <a:r>
              <a:rPr lang="en-US" sz="1500" baseline="30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455164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humidity — moisture density in the intake air stream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907792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1500" baseline="-40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intake,i</a:t>
            </a: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AH</a:t>
            </a:r>
            <a:r>
              <a:rPr lang="en-US" sz="1500" baseline="-40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v</a:t>
            </a:r>
            <a:r>
              <a:rPr lang="en-US" sz="1500" baseline="-40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A · Δt</a:t>
            </a:r>
            <a:r>
              <a:rPr lang="en-US" sz="1500" baseline="-40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236976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mass entering the duct; A = 0.18 m², v normalized to m/s from any native unit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3689604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ΔW</a:t>
            </a:r>
            <a:r>
              <a:rPr lang="en-US" sz="1500" baseline="-40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max( W</a:t>
            </a:r>
            <a:r>
              <a:rPr lang="en-US" sz="1500" baseline="-40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W</a:t>
            </a:r>
            <a:r>
              <a:rPr lang="en-US" sz="1500" baseline="-40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i-1</a:t>
            </a: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, 0 )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018788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water per interval — positive weight gain only, never negative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4471416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</a:t>
            </a:r>
            <a:r>
              <a:rPr lang="en-US" sz="1500" baseline="-40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min( ΔW</a:t>
            </a:r>
            <a:r>
              <a:rPr lang="en-US" sz="1500" baseline="-40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W</a:t>
            </a:r>
            <a:r>
              <a:rPr lang="en-US" sz="1500" baseline="-40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intake,i</a:t>
            </a: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100 , 100 )  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Per-reading efficiency — capped at 100%; invalid/missing inputs yield 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5253228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</a:t>
            </a:r>
            <a:r>
              <a:rPr lang="en-US" sz="1500" baseline="-40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min( ΣΔW</a:t>
            </a:r>
            <a:r>
              <a:rPr lang="en-US" sz="1500" baseline="-40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ΣW</a:t>
            </a:r>
            <a:r>
              <a:rPr lang="en-US" sz="1500" baseline="-40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intake,i</a:t>
            </a:r>
            <a:r>
              <a:rPr lang="en-US" sz="15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100 , 100 )  %  (i ∈ hour h)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5582412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efficiency — ratio of hourly totals, not an average of per-reading ratios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69480" y="12344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physically grounded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69480" y="18288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25512" y="1709928"/>
            <a:ext cx="4224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grounded, unit-agnostic
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efficiency figure traces to a real physics quantity — actual moisture mass, not a proxy. Velocity is normalized to m/s from any native anemometer unit before the physics runs, so the same calculation works across sensor models.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69480" y="29718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25512" y="2852928"/>
            <a:ext cx="4224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 geometry &amp; interval accounting
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0.18 m² converts a velocity reading into volumetric airflow; Δtᵢ is capped at 120 s so a telemetry gap can’t be mistaken for a long airflow interval.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69480" y="41148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25512" y="3995928"/>
            <a:ext cx="4224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≠ average of per-reading
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ηₕ sums captured and available water across the full hour before dividing — one ratio of totals, not an average of 120 noisy per-minute ratios.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69480" y="52578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25512" y="5138928"/>
            <a:ext cx="4224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
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calculation runs today in the FastAPI backend’s /stations/{id}/hourly endpoint, on real station data.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AzAWH — SSEBE, Arizona State University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40" dirty="0"/>
          </a:p>
        </p:txBody>
      </p:sp>
      <p:sp>
        <p:nvSpPr>
          <p:cNvPr id="4" name="Text 2"/>
          <p:cNvSpPr/>
          <p:nvPr/>
        </p:nvSpPr>
        <p:spPr>
          <a:xfrm>
            <a:off x="1143000" y="347472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5669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Validation — Cooling Tower Deployment Dataset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429000" cy="1554480"/>
          </a:xfrm>
          <a:prstGeom prst="roundRect">
            <a:avLst>
              <a:gd name="adj" fmla="val 3529"/>
            </a:avLst>
          </a:prstGeom>
          <a:solidFill>
            <a:srgbClr val="E9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9903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11,399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sensor readings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234440"/>
            <a:ext cx="3429000" cy="1554480"/>
          </a:xfrm>
          <a:prstGeom prst="roundRect">
            <a:avLst>
              <a:gd name="adj" fmla="val 3529"/>
            </a:avLst>
          </a:prstGeom>
          <a:solidFill>
            <a:srgbClr val="E9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97680" y="139903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0.177 m²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480560" y="21031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duct cross-section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(matches the A = 0.18 m² constant used in the code)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234440"/>
            <a:ext cx="3429000" cy="1554480"/>
          </a:xfrm>
          <a:prstGeom prst="roundRect">
            <a:avLst>
              <a:gd name="adj" fmla="val 3529"/>
            </a:avLst>
          </a:prstGeom>
          <a:solidFill>
            <a:srgbClr val="E9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46720" y="139903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~24 hrs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29600" y="21031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cooling-tower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cycle logged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6347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dataset contains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050792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synchronized sensor log from a real cooling-tower AWH installation — balance weight and pump status, voltage/current/power/energy, and intake + outtake air temperature, humidity, and velocity — with the exact Harvesting Efficiency, Absolute Humidity, and kW·h/L columns that are the direct precursor to the equations now running live in the production FastAPI backend. This is the physical dataset the calculation methodology was originally validated against, on a real cooling-tower duct.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AzAWH — SSEBE, Arizona State University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540" dirty="0"/>
          </a:p>
        </p:txBody>
      </p:sp>
      <p:sp>
        <p:nvSpPr>
          <p:cNvPr id="4" name="Text 2"/>
          <p:cNvSpPr/>
          <p:nvPr/>
        </p:nvSpPr>
        <p:spPr>
          <a:xfrm>
            <a:off x="1143000" y="347472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5669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Visualization — Closing the Loop for the Operator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537960" cy="5074920"/>
          </a:xfrm>
          <a:prstGeom prst="roundRect">
            <a:avLst>
              <a:gd name="adj" fmla="val 1441"/>
            </a:avLst>
          </a:prstGeom>
          <a:solidFill>
            <a:srgbClr val="1E2761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stations/[id]/page.tsx — simplified excerpt (Next.js / React)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6080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function fetchHourlyEfficiency() {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resp = await apiClient.getHourlyAggregation(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stationName,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start_date: startDate.toISOString(),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end_date:   endDate.toISOString() }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8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keep only hours with a valid computed value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points = (resp.data || [])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.filter(r =&gt; typeof r.harvesting_efficiency_pct_hourly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=== 'number')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.map(r =&gt; ({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date: r.hour,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r.harvesting_efficiency_pct_hourly ?? 0,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}));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setHourlyEfficiencyData(points);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fetchHourlyEfficiency();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[stationName, startDate, endDate]);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69480" y="12344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the invention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69480" y="18288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25512" y="1709928"/>
            <a:ext cx="4224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formula, live
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renders ηₕ exactly as computed by the backend’s /stations/{id}/hourly endpoint — no separate client-side reimplementation that could drift out of sync.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69480" y="29718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25512" y="2852928"/>
            <a:ext cx="4224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Per-station, any date range
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selects a station and date window; this hook re-fetches and the chart re-renders automatically as those change.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69480" y="41148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25512" y="3995928"/>
            <a:ext cx="4224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active use
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Next.js 15 / React 19 and deployed in production — SSEBE lab staff use it today for day-to-day monitoring across all 8 stations.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69480" y="52578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25512" y="5138928"/>
            <a:ext cx="4224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
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→ autonomous control → physics-based calculation → operator-facing visualization, with no manual data-handling step in between.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AzAWH — SSEBE, Arizona State University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1651</Words>
  <Application>Microsoft Macintosh PowerPoint</Application>
  <PresentationFormat>Custom</PresentationFormat>
  <Paragraphs>155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Mounusha Ram Metti (Student)</cp:lastModifiedBy>
  <cp:revision>2</cp:revision>
  <dcterms:created xsi:type="dcterms:W3CDTF">2026-07-21T21:47:26Z</dcterms:created>
  <dcterms:modified xsi:type="dcterms:W3CDTF">2026-07-21T21:51:22Z</dcterms:modified>
</cp:coreProperties>
</file>